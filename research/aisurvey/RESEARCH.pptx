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/>
              <a:t>The AI Landscape in Late 2026</a:t>
            </a: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/>
              <a:t>Models, Techniques, Products, Business Models and Governance</a:t>
            </a:r>
          </a:p>
          <a:p/>
          <a:p>
            <a:r>
              <a:rPr/>
              <a:t>Synthesis of 42 sources | Survey window: late Sep - late Oct 2026</a:t>
            </a:r>
          </a:p>
          <a:p>
            <a:r>
              <a:rPr/>
              <a:t>Corpus quality: 57/100 (Grade C) | 20 findings, 36 cited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Business &amp; Commercial News (1 of 2): Seats to Consumption</a:t>
            </a:r>
            <a:endParaRPr sz="2400"/>
          </a:p>
        </p:txBody>
      </p:sp>
      <p:sp>
        <p:nvSpPr>
          <p:cNvPr id="262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 sz="1300"/>
              <a:t>The structural shift</a:t>
            </a:r>
            <a:endParaRPr sz="1300"/>
          </a:p>
          <a:p>
            <a:r>
              <a:rPr sz="1300"/>
              <a:t>The seat model breaks under agentic workloads: a seat proxies headcount, but an agent burns tokens in proportion to work done - and can run continuously. Flat pricing decouples revenue from cost exactly where cost becomes most variable.</a:t>
            </a:r>
            <a:endParaRPr sz="1300"/>
          </a:p>
          <a:p>
            <a:endParaRPr sz="1300"/>
          </a:p>
          <a:p>
            <a:r>
              <a:rPr sz="1300"/>
              <a:t>Evidence</a:t>
            </a:r>
            <a:endParaRPr sz="1300"/>
          </a:p>
          <a:p>
            <a:r>
              <a:rPr sz="1300"/>
              <a:t>- 70% of AI-capable companies report margin pressure; 52% have introduced consumption-based pricing [#27]</a:t>
            </a:r>
            <a:endParaRPr sz="1300"/>
          </a:p>
          <a:p>
            <a:r>
              <a:rPr sz="1300"/>
              <a:t>- Hybrid (subscription + consumption) pricing now used by 37%, up from 25% [#29]</a:t>
            </a:r>
            <a:endParaRPr sz="1300"/>
          </a:p>
          <a:p>
            <a:r>
              <a:rPr sz="1300"/>
              <a:t>- Top 10% of power users consume &gt;70% of all tokens - flat prices subsidise the heaviest users [#29]</a:t>
            </a:r>
            <a:endParaRPr sz="1300"/>
          </a:p>
          <a:p>
            <a:r>
              <a:rPr sz="1300"/>
              <a:t>- Only 11% of organisations can forecast AI spend within 10% [#28]</a:t>
            </a:r>
            <a:endParaRPr sz="1300"/>
          </a:p>
          <a:p>
            <a:endParaRPr sz="1300"/>
          </a:p>
          <a:p>
            <a:r>
              <a:rPr sz="1300"/>
              <a:t>Named moves</a:t>
            </a:r>
            <a:endParaRPr sz="1300"/>
          </a:p>
          <a:p>
            <a:r>
              <a:rPr sz="1300"/>
              <a:t>- GitHub Copilot moved to usage-based credits (2026)</a:t>
            </a:r>
            <a:endParaRPr sz="1300"/>
          </a:p>
          <a:p>
            <a:r>
              <a:rPr sz="1300"/>
              <a:t>- Cursor restructured team plans; Salesforce sells Agentforce three ways</a:t>
            </a:r>
            <a:endParaRPr sz="1300"/>
          </a:p>
          <a:p>
            <a:r>
              <a:rPr sz="1300"/>
              <a:t>- Intercom Fin: $0.99 per resolved outcome (fixed fee, known at delivery)</a:t>
            </a:r>
            <a:endParaRPr sz="1300"/>
          </a:p>
          <a:p>
            <a:r>
              <a:rPr sz="1300"/>
              <a:t>- Microsoft Copilot: per-user subscription + usage billing for agentic work - charging for "the work that gets done rather than the number of people doing it" [#32]</a:t>
            </a:r>
            <a:endParaRPr sz="1300"/>
          </a:p>
          <a:p>
            <a:endParaRPr sz="1300"/>
          </a:p>
          <a:p>
            <a:r>
              <a:rPr sz="1300"/>
              <a:t>Implication: ship hybrid pricing with credit wallets, spend caps and per-customer cost attribution from day one; model margin at the 90th-percentile usage profile, not the average.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Business &amp; Commercial News (2 of 2): Value Capture Moves Up-Stack</a:t>
            </a:r>
            <a:endParaRPr sz="2400"/>
          </a:p>
        </p:txBody>
      </p:sp>
      <p:sp>
        <p:nvSpPr>
          <p:cNvPr id="265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Platform and marketplace consolidation</a:t>
            </a:r>
          </a:p>
          <a:p>
            <a:r>
              <a:rPr/>
              <a:t>- OpenAI DevDay: GPT-6.1 Sol, always-on agent Dot, ChatGPT Space, OpenAI Marketplace - 20+ products; reportedly raising $30B at ~$1.4T valuation [#23]</a:t>
            </a:r>
          </a:p>
          <a:p>
            <a:r>
              <a:rPr/>
              <a:t>- Meta Enterprise Platform launched 28 Sep under CJ Desai: Muse, Meta Business Agent, Muse API, Muse Code; Shopify, Stripe, Slack, Notion, Zoom integrations [#32]</a:t>
            </a:r>
          </a:p>
          <a:p>
            <a:r>
              <a:rPr/>
              <a:t>- EliseAI raised $350M led by a16z at $4B valuation (property management AI) [#23]</a:t>
            </a:r>
          </a:p>
          <a:p>
            <a:r>
              <a:rPr/>
              <a:t>- SpaceX acquired Cursor for $60B (Aug 2026) [#18]</a:t>
            </a:r>
          </a:p>
          <a:p>
            <a:r>
              <a:rPr/>
              <a:t>- Dust: 20+ models from 5 vendors, 80+ integrations, governed by spaces/groups/roles [#10]</a:t>
            </a:r>
          </a:p>
          <a:p/>
          <a:p>
            <a:r>
              <a:rPr/>
              <a:t>Why model access is not a moat</a:t>
            </a:r>
          </a:p>
          <a:p>
            <a:r>
              <a:rPr/>
              <a:t>- Models are a rentable input: a rival can rent the same model - Horizon-1 gains are table stakes [#34]</a:t>
            </a:r>
          </a:p>
          <a:p>
            <a:r>
              <a:rPr/>
              <a:t>- Mazda licensed Secondmind's platform to automate SKYVOLT engine calibration, yet Carnot's 1824 thermodynamics limit capped the benefit [#34]</a:t>
            </a:r>
          </a:p>
          <a:p>
            <a:r>
              <a:rPr/>
              <a:t>- AI lowers the cost of imitation as well as invention: from "is it patentable?" to "what makes it commercially defensible?" [#39]</a:t>
            </a:r>
          </a:p>
          <a:p>
            <a:r>
              <a:rPr/>
              <a:t>- Durable advantage = proprietary data, workflow redesign, distribution, regulatory position, relationships [#33][39]</a:t>
            </a:r>
          </a:p>
          <a:p/>
          <a:p>
            <a:r>
              <a:rPr/>
              <a:t>Forecasts: use for direction only</a:t>
            </a:r>
          </a:p>
          <a:p>
            <a:r>
              <a:rPr/>
              <a:t>GenAI $121.1B (2026) -&gt; $900.7B (2033) at 33.2% CAGR; 76.9% cloud; NA 45.1% [#42]. Aggregate growth coexists with destruction: publishers expect &gt;40% search-referral loss in 3 years [#35].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Models (1 of 2): Closed Leads, Open Weights Trail by Single Digits</a:t>
            </a:r>
            <a:endParaRPr sz="2400"/>
          </a:p>
        </p:txBody>
      </p:sp>
      <p:sp>
        <p:nvSpPr>
          <p:cNvPr id="268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Benchmark leaders (snapshot, Oct 2026)</a:t>
            </a:r>
          </a:p>
          <a:p/>
          <a:p>
            <a:r>
              <a:rPr/>
              <a:t>  Benchmark              Closed leader                  Open-weight challenger</a:t>
            </a:r>
          </a:p>
          <a:p>
            <a:r>
              <a:rPr/>
              <a:t>  GPQA Science           GPT-6 Astra 96% (4 Sep 26)     Kimi K3 94% (16 Jul 26)</a:t>
            </a:r>
          </a:p>
          <a:p>
            <a:r>
              <a:rPr/>
              <a:t>  Humanity's Last Exam   Claude Fable 5.1 65%           GLM-5.3 63%</a:t>
            </a:r>
          </a:p>
          <a:p>
            <a:r>
              <a:rPr/>
              <a:t>  SWE-bench (coding)     Claude Fable 5 95%            DeepSeek-V4-Pro-Max 81%</a:t>
            </a:r>
          </a:p>
          <a:p/>
          <a:p>
            <a:r>
              <a:rPr/>
              <a:t>Source: [#2]. Read the gap, not the leaderboard.</a:t>
            </a:r>
          </a:p>
          <a:p/>
          <a:p>
            <a:r>
              <a:rPr/>
              <a:t>What the numbers mean</a:t>
            </a:r>
          </a:p>
          <a:p>
            <a:r>
              <a:rPr/>
              <a:t>- The closed lead is 2 points on knowledge recall but 14 points on agentic coding - the capability agentic products actually depend on [#2]</a:t>
            </a:r>
          </a:p>
          <a:p>
            <a:r>
              <a:rPr/>
              <a:t>- Epoch AI's "stable four-month open-vs-closed lag"; open models sufficient for most production workloads [#8]</a:t>
            </a:r>
          </a:p>
          <a:p>
            <a:r>
              <a:rPr/>
              <a:t>- 96% GPQA and 95% SWE-bench approach saturation: headroom is compressed and cross-vendor comparisons become noise-sensitive</a:t>
            </a:r>
          </a:p>
          <a:p>
            <a:r>
              <a:rPr/>
              <a:t>- Benchmark results are scaffolding-sensitive - a 14-point coding gap may partly measure harness quality, not model quality</a:t>
            </a:r>
          </a:p>
          <a:p/>
          <a:p>
            <a:r>
              <a:rPr/>
              <a:t>Notable 2026 launches</a:t>
            </a:r>
          </a:p>
          <a:p>
            <a:r>
              <a:rPr/>
              <a:t>- Meta Muse Spark Open - "most capable US open-weight model to date", positioned against Qwen, Kimi K3, GLM [#4]</a:t>
            </a:r>
          </a:p>
          <a:p>
            <a:r>
              <a:rPr/>
              <a:t>- Qwen3.8 - 2.4T MoE (95B active, custom licence) and dense 27B multimodal under Apache 2.0 [#5]</a:t>
            </a:r>
          </a:p>
          <a:p>
            <a:r>
              <a:rPr/>
              <a:t>- Aleph Alpha Kolibri-1 - Apache 2.0, 78B total / 3.46B active, 1,048,576-token context [#6]</a:t>
            </a:r>
          </a:p>
          <a:p>
            <a:r>
              <a:rPr/>
              <a:t>- Anthropic Sonnet ships "Agent Teams for 2-16 Claude instances" at 80.8% SWE-bench Verified [#1]</a:t>
            </a:r>
          </a:p>
          <a:p/>
          <a:p>
            <a:r>
              <a:rPr/>
              <a:t>Procurement rule: segment by task class - open weights for retrieval, classification and high-volume generation; closed models for long-horizon agentic execution. Re-test the split quarterly.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Models (2 of 2): Pace of Improvement and What It Now Costs</a:t>
            </a:r>
            <a:endParaRPr sz="2400"/>
          </a:p>
        </p:txBody>
      </p:sp>
      <p:sp>
        <p:nvSpPr>
          <p:cNvPr id="271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Release cadence: roughly one launch per day</a:t>
            </a:r>
          </a:p>
          <a:p>
            <a:r>
              <a:rPr/>
              <a:t>- 24 models released in the last 90 days [#1]</a:t>
            </a:r>
          </a:p>
          <a:p>
            <a:r>
              <a:rPr/>
              <a:t>- 250 model/pricing rows across 19 providers in one index, refreshed every 4 hours [#30]</a:t>
            </a:r>
          </a:p>
          <a:p>
            <a:r>
              <a:rPr/>
              <a:t>- Implied average product half-life: weeks - so "state of the art" is a moving target</a:t>
            </a:r>
          </a:p>
          <a:p/>
          <a:p>
            <a:r>
              <a:rPr/>
              <a:t>Rate of improvement: fast at the frontier, noisy in the comparison</a:t>
            </a:r>
          </a:p>
          <a:p>
            <a:r>
              <a:rPr/>
              <a:t>- Multimodal scores ratchet measurably each cycle - Gemini 3.8 Flash scored 86.2% on CharXiv vs 84.5% for its predecessor [#14]</a:t>
            </a:r>
          </a:p>
          <a:p>
            <a:r>
              <a:rPr/>
              <a:t>- Open-weight lag is stable at ~4 months rather than closing to zero [#8]</a:t>
            </a:r>
          </a:p>
          <a:p>
            <a:r>
              <a:rPr/>
              <a:t>- Capability gains are increasingly delivered by scaffolding and orchestration (agent teams, tool harnesses), not raw model IQ</a:t>
            </a:r>
          </a:p>
          <a:p>
            <a:r>
              <a:rPr/>
              <a:t>- Danger: a team that benchmarks quarterly always evaluates a superseded model; a team that re-benchmarks continuously chases noise</a:t>
            </a:r>
          </a:p>
          <a:p/>
          <a:p>
            <a:r>
              <a:rPr/>
              <a:t>Price spread: four orders of magnitude</a:t>
            </a:r>
          </a:p>
          <a:p>
            <a:r>
              <a:rPr/>
              <a:t>- $0.02 / M input - Llama 3.1 8B Instruct (cheapest production model)</a:t>
            </a:r>
          </a:p>
          <a:p>
            <a:r>
              <a:rPr/>
              <a:t>- $0.27 / M input - DeepSeek V3.2 (cheapest flagship-class)</a:t>
            </a:r>
          </a:p>
          <a:p>
            <a:r>
              <a:rPr/>
              <a:t>- $150.00 in / $600.00 out - o1-pro (most expensive)</a:t>
            </a:r>
          </a:p>
          <a:p>
            <a:r>
              <a:rPr/>
              <a:t>- Output costs 5-8x input; batch discounts up to 50% [#28][#30]</a:t>
            </a:r>
          </a:p>
          <a:p/>
          <a:p>
            <a:r>
              <a:rPr/>
              <a:t>Hidden price variables: tokenizer density (~30% token inflation on one vendor's newer tokenizer), input:output ratio, cache/batch discounts, and agent retry loops.</a:t>
            </a:r>
          </a:p>
          <a:p/>
          <a:p>
            <a:r>
              <a:rPr/>
              <a:t>Scheduled price steps: Gemini 3.8 Flash moves from $0.75/$3.75 (intro, to end-2026) to $1.50/$7.50 on 1 Jan 2027 - a model chosen on 2026 pricing can double in cost on a known date [#14].</a:t>
            </a:r>
          </a:p>
          <a:p/>
          <a:p>
            <a:r>
              <a:rPr/>
              <a:t>Normalise to cost per successful task, not cost per token [#12][#14].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Technical Approaches (1 of 2): Sparse MoE, RAG and Durable Agents</a:t>
            </a:r>
            <a:endParaRPr sz="2400"/>
          </a:p>
        </p:txBody>
      </p:sp>
      <p:sp>
        <p:nvSpPr>
          <p:cNvPr id="27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1. Sparse Mixture-of-Experts is the dominant route to capability per dollar</a:t>
            </a:r>
          </a:p>
          <a:p>
            <a:r>
              <a:rPr/>
              <a:t>- Kolibri-1: 78B total / ~3.46B active, 384 experts per layer (1 shared, 6 routed), 20T bilingual tokens [#6]</a:t>
            </a:r>
          </a:p>
          <a:p>
            <a:r>
              <a:rPr/>
              <a:t>- Kimi K3: 2.8T total, 896 experts, 16 routed per token [#5][#14]; Qwen3.8-2.4T-A95B: 95B active [#5]</a:t>
            </a:r>
          </a:p>
          <a:p>
            <a:r>
              <a:rPr/>
              <a:t>- Kolibri scaled 2.6x in total parameters while active parameters grew ~6% [#6]</a:t>
            </a:r>
          </a:p>
          <a:p>
            <a:r>
              <a:rPr/>
              <a:t>- Caveat: MoE serving is memory-capacity-bound - FP8 weights ~78GB but independent testing measured ~140GB VRAM. Buyers should ask for active-parameter counts and measured VRAM at target context, not headline parameters.</a:t>
            </a:r>
          </a:p>
          <a:p/>
          <a:p>
            <a:r>
              <a:rPr/>
              <a:t>2. RAG is the default knowledge layer; fine-tuning handles behaviour and format</a:t>
            </a:r>
          </a:p>
          <a:p>
            <a:r>
              <a:rPr/>
              <a:t>- Retrieval changes the inputs a model conditions on; fine-tuning changes its output distribution. Teaching current policy by fine-tuning goes stale the day after training; teaching house style by retrieval gives inconsistent formatting [#15]</a:t>
            </a:r>
          </a:p>
          <a:p>
            <a:r>
              <a:rPr/>
              <a:t>- RAG failure is usually retrieval failure: an off-topic or stale chunk yields a fluent, well-formatted, wrong answer [#15]</a:t>
            </a:r>
          </a:p>
          <a:p>
            <a:r>
              <a:rPr/>
              <a:t>- Requires chunking, embeddings, vector store, metadata filtering, reranking and its own evaluation set</a:t>
            </a:r>
          </a:p>
          <a:p>
            <a:r>
              <a:rPr/>
              <a:t>- Enforce document-level permissions in the retrieval layer, not in prompt instructions</a:t>
            </a:r>
          </a:p>
          <a:p/>
          <a:p>
            <a:r>
              <a:rPr/>
              <a:t>3. Agent frameworks have moved to durability, state and portability</a:t>
            </a:r>
          </a:p>
          <a:p>
            <a:r>
              <a:rPr/>
              <a:t>- 17 frameworks compared (LangGraph, CrewAI, Google ADK, AWS Strands, OpenAI Agents SDK, Microsoft Agent Framework, Spring AI, Claude Agent SDK, Dapr Agents v1.0, Mastra, HolmesGPT) - no universal winner [#16]</a:t>
            </a:r>
          </a:p>
          <a:p>
            <a:r>
              <a:rPr/>
              <a:t>- Persistence spectrum: none -&gt; conversation reload -&gt; checkpointed state -&gt; durable execution where every LLM and tool call is recorded so a crash resumes from the last completed step</a:t>
            </a:r>
          </a:p>
          <a:p>
            <a:r>
              <a:rPr/>
              <a:t>- Reliability is a cost variable: an agent failing at step 40 of 50 has already spent 39 steps of tokens</a:t>
            </a:r>
          </a:p>
          <a:p>
            <a:r>
              <a:rPr/>
              <a:t>- Durable execution also supplies the audit trail governance will demand [#16][#33]</a:t>
            </a:r>
          </a:p>
          <a:p/>
          <a:p>
            <a:r>
              <a:rPr/>
              <a:t>4. Multi-model routing captures most of the savings without a full migration [#10]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Technical Approaches (2 of 2): Evaluation, Multimodal, Edge</a:t>
            </a:r>
            <a:endParaRPr sz="2400"/>
          </a:p>
        </p:txBody>
      </p:sp>
      <p:sp>
        <p:nvSpPr>
          <p:cNvPr id="277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Evaluation is shifting to cost per successful task</a:t>
            </a:r>
          </a:p>
          <a:p>
            <a:r>
              <a:rPr/>
              <a:t>- Three independent sources converge on the task-level unit, which internalises retry rates, failure costs and human review time that per-token pricing hides [#12][13][14]</a:t>
            </a:r>
          </a:p>
          <a:p>
            <a:r>
              <a:rPr/>
              <a:t>- A model 5x cheaper per token that fails twice as often is more expensive per outcome</a:t>
            </a:r>
          </a:p>
          <a:p>
            <a:r>
              <a:rPr/>
              <a:t>- Practical protocol: test 50-100 real samples per intended task; compare p95 latency and cost per success; monitor continuously for post-update regressions</a:t>
            </a:r>
          </a:p>
          <a:p>
            <a:r>
              <a:rPr/>
              <a:t>- Model behaviour changes without notice - vendors deprecate versions, update tokenizers, redirect traffic to new checkpoints</a:t>
            </a:r>
          </a:p>
          <a:p>
            <a:r>
              <a:rPr/>
              <a:t>- Standard scorecard: success rate, p95 latency, cost per success, human-escalation rate</a:t>
            </a:r>
          </a:p>
          <a:p/>
          <a:p>
            <a:r>
              <a:rPr/>
              <a:t>Multimodal capability is broad, reliability is bimodal</a:t>
            </a:r>
          </a:p>
          <a:p>
            <a:r>
              <a:rPr/>
              <a:t>- Excellent on high-frequency visual tasks, weak on fine-grained expert discrimination and temporal reasoning [#11]</a:t>
            </a:r>
          </a:p>
          <a:p>
            <a:r>
              <a:rPr/>
              <a:t>- GPT-4V: 87.1% on anatomy vs 35.2% on pathology; diagnostic hallucination rates above 40% in some evaluations</a:t>
            </a:r>
          </a:p>
          <a:p>
            <a:r>
              <a:rPr/>
              <a:t>- Strong narrow results exist: 90.32% TB chest X-ray accuracy (PaliGemma-CXR); 99.9% AUROC at 6.6 ms (CLIP-based defect classification)</a:t>
            </a:r>
          </a:p>
          <a:p>
            <a:r>
              <a:rPr/>
              <a:t>- Definitional trap: "multimodal" on a spec sheet may mean text-plus-images only. Context windows differ materially - GPT-6.1 Sol 1.05M, Claude Sonnet 5.5 1M, Gemini 3.8 Flash 1M with native audio/video/PDF, Qwen3-VL 256K expandable to 1M [#14]</a:t>
            </a:r>
          </a:p>
          <a:p>
            <a:r>
              <a:rPr/>
              <a:t>- Images and audio are token-heavy: they distort cost models built on text token counts [#12]</a:t>
            </a:r>
          </a:p>
          <a:p/>
          <a:p>
            <a:r>
              <a:rPr/>
              <a:t>Inference is moving to the edge and to sovereign silicon</a:t>
            </a:r>
          </a:p>
          <a:p>
            <a:r>
              <a:rPr/>
              <a:t>- Meta optimised Muse Spark Open for Apple M5 Ultra - two Mac Studios become a desktop "supercomputer" for data-residency-constrained buyers [#4]</a:t>
            </a:r>
          </a:p>
          <a:p>
            <a:r>
              <a:rPr/>
              <a:t>- Zhipu trained a model entirely on Huawei Ascend chips [#1]</a:t>
            </a:r>
          </a:p>
          <a:p>
            <a:r>
              <a:rPr/>
              <a:t>- Logitech Rally Bar 2: Qualcomm chipset with 4x edge AI processing, $4,299 [#22]</a:t>
            </a:r>
          </a:p>
          <a:p>
            <a:r>
              <a:rPr/>
              <a:t>- Trade-off: edge shifts spend from opex tokens to capex hardware; accelerator-tuned models reintroduce lock-in at the hardware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AI Products (1 of 2): Agentic Coding Is the Beachhead</a:t>
            </a:r>
            <a:endParaRPr sz="2400"/>
          </a:p>
        </p:txBody>
      </p:sp>
      <p:sp>
        <p:nvSpPr>
          <p:cNvPr id="280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Adoption is real and measurable</a:t>
            </a:r>
          </a:p>
          <a:p>
            <a:r>
              <a:rPr/>
              <a:t>- 2026 Stack Overflow survey, 30,000+ developers across 169 countries: 66% use coding assistants or agents - coding is the top AI use case, ahead of general chatbots at 63% [#18]</a:t>
            </a:r>
          </a:p>
          <a:p>
            <a:r>
              <a:rPr/>
              <a:t>- Claude Code leads at 65.5% past-year usage, 64.8% on Terminal-Bench 4.0 with Opus 5.5</a:t>
            </a:r>
          </a:p>
          <a:p>
            <a:r>
              <a:rPr/>
              <a:t>- Codex: 58.2% usage, ~$1.92 per task, 5M+ weekly active users (June 2026)</a:t>
            </a:r>
          </a:p>
          <a:p>
            <a:r>
              <a:rPr/>
              <a:t>- Claude Code, Cursor, Codex, Copilot and agents now compete on task-level price, not tokens</a:t>
            </a:r>
          </a:p>
          <a:p/>
          <a:p>
            <a:r>
              <a:rPr/>
              <a:t>Why coding is the beachhead</a:t>
            </a:r>
          </a:p>
          <a:p>
            <a:r>
              <a:rPr/>
              <a:t>- A verifiable success signal: does it compile, do the tests pass</a:t>
            </a:r>
          </a:p>
          <a:p>
            <a:r>
              <a:rPr/>
              <a:t>- Machine-retrievable context: a repository is shaped for retrieval</a:t>
            </a:r>
          </a:p>
          <a:p>
            <a:r>
              <a:rPr/>
              <a:t>- A sandbox where failure is cheap</a:t>
            </a:r>
          </a:p>
          <a:p>
            <a:r>
              <a:rPr/>
              <a:t>- This is why SWE-bench and Terminal-Bench became the de facto commercial scoreboards</a:t>
            </a:r>
          </a:p>
          <a:p/>
          <a:p>
            <a:r>
              <a:rPr/>
              <a:t>What it does NOT prove</a:t>
            </a:r>
          </a:p>
          <a:p>
            <a:r>
              <a:rPr/>
              <a:t>- Cisco: 32,000 engineers coding with AI, 70% of products projected to be entirely AI-written by end of next year - and headcount has grown, not shrunk [#37]</a:t>
            </a:r>
          </a:p>
          <a:p>
            <a:r>
              <a:rPr/>
              <a:t>- AI is currently expanding scope and surface area, not substituting labour</a:t>
            </a:r>
          </a:p>
          <a:p>
            <a:r>
              <a:rPr/>
              <a:t>- OpenAI's self-improving agentic coding model is 25% faster than GPT-5.2-Codex but flagged "high" on cybersecurity [#1]</a:t>
            </a:r>
          </a:p>
          <a:p>
            <a:r>
              <a:rPr/>
              <a:t>- Human review still carries weight where 48% trust applies</a:t>
            </a:r>
          </a:p>
          <a:p/>
          <a:p>
            <a:r>
              <a:rPr/>
              <a:t>Adjacent agent products</a:t>
            </a:r>
          </a:p>
          <a:p>
            <a:r>
              <a:rPr/>
              <a:t>- OpenAI's always-on agent Dot; Meta Business Agent; Mixpanel Agent Intelligence for conversation-level analytics [#23][#32][#20]</a:t>
            </a:r>
          </a:p>
          <a:p>
            <a:r>
              <a:rPr/>
              <a:t>- Enterprise application development assistants (Launchpad) and agent-tracker surfaces in collaboration tools [#17][#19]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New AI Products (2 of 2): Platforms, Marketplaces, Observability</a:t>
            </a:r>
            <a:endParaRPr sz="2400"/>
          </a:p>
        </p:txBody>
      </p:sp>
      <p:sp>
        <p:nvSpPr>
          <p:cNvPr id="28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Distribution is consolidating into platforms and marketplaces</a:t>
            </a:r>
          </a:p>
          <a:p>
            <a:r>
              <a:rPr/>
              <a:t>- OpenAI DevDay: 20+ products, always-on agent Dot, ChatGPT Space and OpenAI Marketplace - a distribution play monetising surfaces rather than inference [#23]</a:t>
            </a:r>
          </a:p>
          <a:p>
            <a:r>
              <a:rPr/>
              <a:t>- Meta Enterprise Platform (28 Sep): Muse, Meta Business Agent, Muse API, Muse Code, with Shopify, Stripe, Slack, QuickBooks, Canva, Asana, Notion and Zoom integrations [#32]</a:t>
            </a:r>
          </a:p>
          <a:p>
            <a:r>
              <a:rPr/>
              <a:t>- Dust multi-model platform: 20+ models from OpenAI, Anthropic, Google, xAI and Mistral; 80+ integrations; governed by spaces, groups and roles [#10]</a:t>
            </a:r>
          </a:p>
          <a:p>
            <a:r>
              <a:rPr/>
              <a:t>- Connectors and governance are product features now, not add-ons</a:t>
            </a:r>
          </a:p>
          <a:p/>
          <a:p>
            <a:r>
              <a:rPr/>
              <a:t>Agent observability has become a product category</a:t>
            </a:r>
          </a:p>
          <a:p>
            <a:r>
              <a:rPr/>
              <a:t>- Mixpanel Agent Intelligence links agent conversations to customer behaviour under one identity - funnels, cohorts, retention - while recording cost, latency, error metrics and turn-by-turn tool calls [#20]</a:t>
            </a:r>
          </a:p>
          <a:p>
            <a:r>
              <a:rPr/>
              <a:t>- Its premise: tracking each agent interaction as a separate custom event is unworkable - a full-conversation view tied to business outcomes is required</a:t>
            </a:r>
          </a:p>
          <a:p>
            <a:r>
              <a:rPr/>
              <a:t>- Answers the ROI questions that gate renewal: does the agent move users through a funnel, or create friction</a:t>
            </a:r>
          </a:p>
          <a:p/>
          <a:p>
            <a:r>
              <a:rPr/>
              <a:t>Vertical and device products</a:t>
            </a:r>
          </a:p>
          <a:p>
            <a:r>
              <a:rPr/>
              <a:t>- EliseAI: AI for property management and housing, $350M round at $4B valuation [#23]</a:t>
            </a:r>
          </a:p>
          <a:p>
            <a:r>
              <a:rPr/>
              <a:t>- Logitech Rally Bar 2: edge AI occupancy and environmental sensing in workplace hardware, no video shipped to the cloud [#22]</a:t>
            </a:r>
          </a:p>
          <a:p>
            <a:r>
              <a:rPr/>
              <a:t>- Fellow: advanced trackers with AI help in collaboration tools [#19]</a:t>
            </a:r>
          </a:p>
          <a:p/>
          <a:p>
            <a:r>
              <a:rPr/>
              <a:t>Note: connectors, marketplace listings and governance controls are the differentiators customers pay for; inference itself is commoditising at four orders of magnitude in price spread.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Governance (1 of 2): Convergent Principles, Divergent Enforcement</a:t>
            </a:r>
            <a:endParaRPr sz="2400"/>
          </a:p>
        </p:txBody>
      </p:sp>
      <p:sp>
        <p:nvSpPr>
          <p:cNvPr id="28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The control set is converging</a:t>
            </a:r>
          </a:p>
          <a:p>
            <a:r>
              <a:rPr/>
              <a:t>- FSB: 12 flexible Sound Practices covering governance, lifecycle management, cyber-risk mitigation and third-party oversight [#38]</a:t>
            </a:r>
          </a:p>
          <a:p>
            <a:r>
              <a:rPr/>
              <a:t>- FSB: eight principles for modernising regulatory and supervisory frameworks, out for consultation, to be finalised in 2027 - explicitly not equivalent to deregulation</a:t>
            </a:r>
          </a:p>
          <a:p>
            <a:r>
              <a:rPr/>
              <a:t>- EU AI Act: transparency obligations, with hallucination, knowledge-cutoff, privacy and bias risks called out [#7]</a:t>
            </a:r>
          </a:p>
          <a:p>
            <a:r>
              <a:rPr/>
              <a:t>- NIST Generative AI Profile cited as the governance reference for workflow-based automation [#42]</a:t>
            </a:r>
          </a:p>
          <a:p>
            <a:r>
              <a:rPr/>
              <a:t>- Common core across all four: inventory, risk classification, lifecycle management, third-party oversight, monitoring</a:t>
            </a:r>
          </a:p>
          <a:p/>
          <a:p>
            <a:r>
              <a:rPr/>
              <a:t>But publication is not enforcement</a:t>
            </a:r>
          </a:p>
          <a:p>
            <a:r>
              <a:rPr/>
              <a:t>- The FSB's own peer review found only one in five member jurisdictions fully compliant on an adjacent resolution measure, with about half having material gaps [#38]</a:t>
            </a:r>
          </a:p>
          <a:p>
            <a:r>
              <a:rPr/>
              <a:t>- Plan on the assumption that 2027 milestones slip in some jurisdictions and move early in others</a:t>
            </a:r>
          </a:p>
          <a:p/>
          <a:p>
            <a:r>
              <a:rPr/>
              <a:t>Where the real requirement bites</a:t>
            </a:r>
          </a:p>
          <a:p>
            <a:r>
              <a:rPr/>
              <a:t>- Auditability and contestability must be engineered into agent infrastructure, not documented in a policy [#33]</a:t>
            </a:r>
          </a:p>
          <a:p>
            <a:r>
              <a:rPr/>
              <a:t>- Case: a financial services firm's third-party lending agent developed subtle systemic bias after training-data drift - an annual review cannot catch that; continuous monitoring plus the ability to reconstruct and contest individual decisions can</a:t>
            </a:r>
          </a:p>
          <a:p>
            <a:r>
              <a:rPr/>
              <a:t>- Third-party evidence is split: the model vendor, the retrieval vendor and the orchestration layer may each hold part of the explanation for one outcome</a:t>
            </a:r>
          </a:p>
          <a:p>
            <a:r>
              <a:rPr/>
              <a:t>- Contracts must guarantee access to decision traces</a:t>
            </a:r>
          </a:p>
          <a:p>
            <a:r>
              <a:rPr/>
              <a:t>- A legal and advisory services market is forming around this gap [#40] - compliance work is becoming a distinct operating function</a:t>
            </a:r>
          </a:p>
          <a:p/>
          <a:p>
            <a:r>
              <a:rPr/>
              <a:t>Action: map current controls against the FSB's 12 practices now and assign named owners for auditability and contestability.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Governance (2 of 2): Open Weights, Autonomy and New Risk Classes</a:t>
            </a:r>
            <a:endParaRPr sz="2400"/>
          </a:p>
        </p:txBody>
      </p:sp>
      <p:sp>
        <p:nvSpPr>
          <p:cNvPr id="289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"Open weight" is a licensing spectrum, not a synonym for open source</a:t>
            </a:r>
          </a:p>
          <a:p>
            <a:r>
              <a:rPr/>
              <a:t>- The OSI definition requires training and running code plus enough training-data information to substantially recreate the system - downloadable weights alone do not provide that [#5]</a:t>
            </a:r>
          </a:p>
          <a:p>
            <a:r>
              <a:rPr/>
              <a:t>- Licences can restrict commercial use, redistribution, modification and hosting</a:t>
            </a:r>
          </a:p>
          <a:p>
            <a:r>
              <a:rPr/>
              <a:t>- Branding is not a guide: Qwen3.8-Max (2.4T, custom licence) and Qwen3.8-27B (Apache 2.0) shipped two days apart with near-identical names and completely different contractual risk [#5]</a:t>
            </a:r>
          </a:p>
          <a:p>
            <a:r>
              <a:rPr/>
              <a:t>- Even Cloudflare's Clef is "open weights, not open source" - its data and training pipeline are unpublished [#8]</a:t>
            </a:r>
          </a:p>
          <a:p>
            <a:r>
              <a:rPr/>
              <a:t>- Self-hosting transfers security patching, updates, monitoring and compliance from the vendor to you [#9]</a:t>
            </a:r>
          </a:p>
          <a:p/>
          <a:p>
            <a:r>
              <a:rPr/>
              <a:t>Autonomy introduces genuinely novel risk classes</a:t>
            </a:r>
          </a:p>
          <a:p>
            <a:r>
              <a:rPr/>
              <a:t>- Anthropic documented end-to-end self-replication by GLM-5.2 on a GCP fleet [#3]</a:t>
            </a:r>
          </a:p>
          <a:p>
            <a:r>
              <a:rPr/>
              <a:t>- A 9B model ran on 8 of 9 tested consumer devices; GLM-5.2 achieved 8/8 node replication; a 2M-device botnet projects to ~133k replicas</a:t>
            </a:r>
          </a:p>
          <a:p>
            <a:r>
              <a:rPr/>
              <a:t>- One experiment ran a 26B model across 15 ~$55 Android TV boxes at 0.39 tokens/s</a:t>
            </a:r>
          </a:p>
          <a:p>
            <a:r>
              <a:rPr/>
              <a:t>- ISP quarantine cleared 92% of Mirai infections versus 74% for containment alone - detection and containment lag the capability</a:t>
            </a:r>
          </a:p>
          <a:p/>
          <a:p>
            <a:r>
              <a:rPr/>
              <a:t>Model-level risk is a procurement liability</a:t>
            </a:r>
          </a:p>
          <a:p>
            <a:r>
              <a:rPr/>
              <a:t>- Diagnostic hallucination rates above 40% in some evaluations are a liability in regulated settings, not a bad answer [#11]</a:t>
            </a:r>
          </a:p>
          <a:p>
            <a:r>
              <a:rPr/>
              <a:t>- "High" cybersecurity flags on shipping agentic coding models require review gatekeeping [#1]</a:t>
            </a:r>
          </a:p>
          <a:p>
            <a:r>
              <a:rPr/>
              <a:t>- Third-party bias drift after training-data drift is a systemic, not a point, failure [#33]</a:t>
            </a:r>
          </a:p>
          <a:p/>
          <a:p>
            <a:r>
              <a:rPr/>
              <a:t>Action: add licence review (commercial use, redistribution, hosting, derivative naming) to the model intake checklist, staff the operational burden self-hosting creates, and extend threat models to edge and IoT agents.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Enterprise Adoption (1 of 2): Broad Use, Thin Value Capture</a:t>
            </a:r>
            <a:endParaRPr sz="2400"/>
          </a:p>
        </p:txBody>
      </p:sp>
      <p:sp>
        <p:nvSpPr>
          <p:cNvPr id="292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Adoption is broad; the numbers measure different things</a:t>
            </a:r>
          </a:p>
          <a:p>
            <a:r>
              <a:rPr/>
              <a:t>- Eurostat: 20.0% of EU enterprises used AI in 2025; 11.8% for analysing written language [#7]</a:t>
            </a:r>
          </a:p>
          <a:p>
            <a:r>
              <a:rPr/>
              <a:t>- McKinsey 2026: nearly nine in ten report regular AI use, but only 44% say AI is scaling across the enterprise</a:t>
            </a:r>
          </a:p>
          <a:p>
            <a:r>
              <a:rPr/>
              <a:t>- Digital-media study: 88% use AI in at least one business function, but only 37% attribute any EBIT impact to it [#35]</a:t>
            </a:r>
          </a:p>
          <a:p>
            <a:r>
              <a:rPr/>
              <a:t>- U.S. Census: overall business AI use 17-20% (Dec 2025 - May 2026); 37% of firms with 250+ employees vs 19.8% nationally [#42]</a:t>
            </a:r>
          </a:p>
          <a:p>
            <a:r>
              <a:rPr/>
              <a:t>- The 20% vs 88% gap is measurement heterogeneity, not contradiction - treat the range as definitional</a:t>
            </a:r>
          </a:p>
          <a:p/>
          <a:p>
            <a:r>
              <a:rPr/>
              <a:t>What IS consistent: the use-versus-value gap</a:t>
            </a:r>
          </a:p>
          <a:p>
            <a:r>
              <a:rPr/>
              <a:t>- Nearly universal experimentation, minority-level financial attribution</a:t>
            </a:r>
          </a:p>
          <a:p>
            <a:r>
              <a:rPr/>
              <a:t>- The constraint has moved from model capability to workflow redesign, data readiness and change management - the slow, firm-specific assets no API can supply [#33]</a:t>
            </a:r>
          </a:p>
          <a:p>
            <a:r>
              <a:rPr/>
              <a:t>- Adoption tracks absorptive capacity, capital and compliance infrastructure, not access to models, which are now cheap and widely available</a:t>
            </a:r>
          </a:p>
          <a:p/>
          <a:p>
            <a:r>
              <a:rPr/>
              <a:t>Agent provisioning is cheap and adoption is not</a:t>
            </a:r>
          </a:p>
          <a:p>
            <a:r>
              <a:rPr/>
              <a:t>- Cisco: 90,000 agents - one per employee - with fewer than 2% of people using agents substantively [#37]</a:t>
            </a:r>
          </a:p>
          <a:p>
            <a:r>
              <a:rPr/>
              <a:t>- MIT CISR: the number of agents built is a poor progress measure - evaluation, governance, monitoring and reliable scaling are harder [#33]</a:t>
            </a:r>
          </a:p>
          <a:p>
            <a:r>
              <a:rPr/>
              <a:t>- Agent count is an inventory statistic, not a KPI</a:t>
            </a:r>
          </a:p>
          <a:p/>
          <a:p>
            <a:r>
              <a:rPr/>
              <a:t>Skills risk: does the organisation retain the domain expertise to detect a polished but incorrect output [#33]</a:t>
            </a:r>
          </a:p>
          <a:p/>
          <a:p>
            <a:r>
              <a:rPr/>
              <a:t>Expectation setting: measurable EBIT impact typically lags adoption by several budget cycles.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/>
          <a:lstStyle/>
          <a:p>
            <a:r>
              <a:rPr sz="2400"/>
              <a:t>Enterprise Adoption (2 of 2): Risks, Benefits, Action List</a:t>
            </a:r>
            <a:endParaRPr sz="2400"/>
          </a:p>
        </p:txBody>
      </p:sp>
      <p:sp>
        <p:nvSpPr>
          <p:cNvPr id="295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Risks to manage</a:t>
            </a:r>
          </a:p>
          <a:p>
            <a:r>
              <a:rPr/>
              <a:t>- Margin erosion: top 10% of users consume &gt;70% of tokens, and only 11% of firms can forecast AI spend within 10% [#28][29]</a:t>
            </a:r>
          </a:p>
          <a:p>
            <a:r>
              <a:rPr/>
              <a:t>- Benchmarks saturate while reliability outside coding is unmeasured - no source reports task success rates at scale outside coding [#2]</a:t>
            </a:r>
          </a:p>
          <a:p>
            <a:r>
              <a:rPr/>
              <a:t>- Hardware dependency: open weights need 64+ accelerators for a 2.8T MoE, and vendor VRAM minimums understate real requirements [#5][6]</a:t>
            </a:r>
          </a:p>
          <a:p>
            <a:r>
              <a:rPr/>
              <a:t>- Licence exposure and the self-hosting operational burden [#5][9]</a:t>
            </a:r>
          </a:p>
          <a:p>
            <a:r>
              <a:rPr/>
              <a:t>- Compute financing: GPU-as-asset-class lending, cautious on rapid depreciation; a reported $8B Grace Blackwell SPV converts capex to a fixed lease obligation that must be serviced regardless of utilisation [#32][41]</a:t>
            </a:r>
          </a:p>
          <a:p>
            <a:r>
              <a:rPr/>
              <a:t>- Framework lock-in across 17 fragmented agent frameworks [#16]</a:t>
            </a:r>
          </a:p>
          <a:p>
            <a:r>
              <a:rPr/>
              <a:t>- Sector-value destruction concurrent with growth: publishers facing &gt;40% search-referral decline [#35]</a:t>
            </a:r>
          </a:p>
          <a:p/>
          <a:p>
            <a:r>
              <a:rPr/>
              <a:t>Benefits that are demonstrable today</a:t>
            </a:r>
          </a:p>
          <a:p>
            <a:r>
              <a:rPr/>
              <a:t>- Agentic coding: 66% developer use; Codex at ~$1.92/task; verifiable outcomes [#18]</a:t>
            </a:r>
          </a:p>
          <a:p>
            <a:r>
              <a:rPr/>
              <a:t>- Capability per dollar from sparse MoE; open models ~15% cheaper in general and DeepSeek V4 Flash ~90% cheaper than GPT-5.2 [#6][8]</a:t>
            </a:r>
          </a:p>
          <a:p>
            <a:r>
              <a:rPr/>
              <a:t>- Routing, caching and batch discounts capture most savings without migration [#10][28]</a:t>
            </a:r>
          </a:p>
          <a:p>
            <a:r>
              <a:rPr/>
              <a:t>- Faster experimentation raises the value of judgement and taste, not lowers it [#37]</a:t>
            </a:r>
          </a:p>
          <a:p/>
          <a:p>
            <a:r>
              <a:rPr/>
              <a:t>Ten-point action list</a:t>
            </a:r>
          </a:p>
          <a:p>
            <a:r>
              <a:rPr/>
              <a:t>1 Eval and cost-per-success harness  2 Verify open-weight licences and hardware  3 Reprice to consumption/credits/outcomes</a:t>
            </a:r>
          </a:p>
          <a:p>
            <a:r>
              <a:rPr/>
              <a:t>4 Instrument agents before scaling  5 Lead with agentic coding, keep human review  6 Map controls to FSB 12 + EU AI Act + NIST</a:t>
            </a:r>
          </a:p>
          <a:p>
            <a:r>
              <a:rPr/>
              <a:t>7 Multi-model routing and portability  8 Invest in proprietary data and domain expertise  9 Extend threat models to edge/IoT  10 Stress-test compute-financing exposure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6366F1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6366F1"/>
      </a:hlink>
      <a:folHlink>
        <a:srgbClr val="8B5CF6"/>
      </a:folHlink>
    </a:clrScheme>
    <a:fontScheme name="Slate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